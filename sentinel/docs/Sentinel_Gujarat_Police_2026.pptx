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1C3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1C3E"/>
                </a:solidFill>
                <a:latin typeface="Calibri"/>
              </a:rPr>
              <a:t>Comparisons for one batch (50 sightings x 400 vehicles)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Pairs scored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1C3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5C4B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Without the gate</c:v>
                  </c:pt>
                  <c:pt idx="1">
                    <c:v>With the gate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20000</c:v>
                </c:pt>
                <c:pt idx="1">
                  <c:v>473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21C3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2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1C3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1C3E"/>
                </a:solidFill>
                <a:latin typeface="Calibri"/>
              </a:rPr>
              <a:t>Correct plate, as a share of all attempts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End-to-end accuracy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1C3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ANPR lane, day</c:v>
                  </c:pt>
                  <c:pt idx="1">
                    <c:v>ANPR lane, night</c:v>
                  </c:pt>
                  <c:pt idx="2">
                    <c:v>Surveillance, day</c:v>
                  </c:pt>
                  <c:pt idx="3">
                    <c:v>Surveillance, night</c:v>
                  </c:pt>
                  <c:pt idx="4">
                    <c:v>Wide-angle, 58px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92.5</c:v>
                </c:pt>
                <c:pt idx="1">
                  <c:v>79</c:v>
                </c:pt>
                <c:pt idx="2">
                  <c:v>75.6</c:v>
                </c:pt>
                <c:pt idx="3">
                  <c:v>37.9</c:v>
                </c:pt>
                <c:pt idx="4">
                  <c:v>11.2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21C3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2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3E7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1C3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1C3E"/>
                </a:solidFill>
                <a:latin typeface="Calibri"/>
              </a:rPr>
              <a:t>Year-one cost, Rs crore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Year-one cost (Rs crore)</c:v>
                </c:pt>
              </c:strCache>
            </c:strRef>
          </c:tx>
          <c:spPr>
            <a:solidFill>
              <a:srgbClr val="45C4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21C3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5C4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Federated (Sentinel)</c:v>
                  </c:pt>
                  <c:pt idx="1">
                    <c:v>Centralised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82.7</c:v>
                </c:pt>
                <c:pt idx="1">
                  <c:v>138.7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21C3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2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naming the problem, not the technology. 26 departments own cameras and cannot see each other's. Everything else follows from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rush this slide. The judges know these facts. Showing that you know them buys the rest of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decides whether the architecture is credible. 320 Gbps is not affordable at any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judge asks what the gate is worth in compute rather than in candidates: this slide is the answer, and the matcher counts both in production so it is checkable on a running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wins trust. Nobody else will show a slide of their own security failures. The point is that we found them ourselves, before deployment, and can prove each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this slide and do not soften it. It is the reason to believe every other number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ask, not on a summary. The three things you need are access, imagery and a pilot district.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566160"/>
            <a:ext cx="3108960" cy="3108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POLICE · SENTINEL INNOVATION CHALLENGE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17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pane of glass over a heterogeneous camera estate: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one vehicle across 26 departments that do not share a system.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371 automated tests</a:t>
            </a:r>
            <a:pPr indent="0" marL="0">
              <a:buNone/>
            </a:pPr>
            <a:r>
              <a:rPr lang="en-US" sz="13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database migrations</a:t>
            </a:r>
            <a:pPr indent="0" marL="0">
              <a:buNone/>
            </a:pPr>
            <a:r>
              <a:rPr lang="en-US" sz="13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API operations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532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 this deck is produced by a script in the repository.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vehicle crosses a boundary, and disappears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476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892808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departments own cameras in Gujarat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2276856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can see another's estate. A vehicle leaving Ahmedabad for Surat leaves the record.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110642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4290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3374136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protocols, 9 vendors, in one real estate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758184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analog on legacy DVRs. 10% municipal HLS at 10-second latency. A system that needs clean modern IP has not solved the problem.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654296"/>
            <a:ext cx="110642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91032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4855464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real estate is dead at any moment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5239512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Frozen, misaimed or offline. A dashboard that hides this trains officers to trust what they should not.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1 OF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never centralises. Metadata does.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 cameras at 4 Mbps is not a budget problem. It is physics, and no centralised design survives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3740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14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 the video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 Gbps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40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petabytes per month of state backbone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25400">
            <a:solidFill>
              <a:srgbClr val="45C4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514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 the answer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880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5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Mbps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840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kbps per camera of structured sightings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factor of 3,300. Video stays at the edge; clips are pulled on demand. Every other architectural decision follows from this one.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decides. Regional joins. Central remembers.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each district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(NVDEC)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· YOLOX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· ByteTrack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~80% out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+ ReID + colour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17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stays here. Permanently.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64592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90288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few per state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651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Cross-camera matching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gate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4617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cross districts, not states.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164592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57616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Gandhinagar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651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&amp; map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tracking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audit log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4617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only. ~5 kbps/camera.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fetch video directly from the media server over WebRTC. Video never crosses the edge/core boundary except as an on-demand clip.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2 OF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 matters more than the model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sighting, only cameras reachable by road in a plausible travel window are candidates. It is a PostGIS query against a cached routing matrix — no GPU, no model.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219456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040880" y="23042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97.6%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27066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comparisons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66560" y="3218688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040880" y="332841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2,240 ms -&gt; 53 ms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37307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time for one batch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766560" y="4242816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040880" y="435254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 microseconds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4754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cost per scored pair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appearance matching at a 0.9% false-positive rate is unusable against 49 cameras and trustworthy against 3.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3 OF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ANPR alone cannot track a real estate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766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002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21C3E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863840" y="1783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5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4231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estate can physically resolve a plate. Below ~55 px of plate width nothing works — that is optics, not tuning.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589520" y="3383280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86384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fuse three signals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9319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— precision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(ReID) — recall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— colour, type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532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publish our worst number because an officer needs to know when not to trust the system.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TRUSTWORTHINESS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Appearance can never confirm a match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384048" cy="384048"/>
          </a:xfrm>
          <a:prstGeom prst="ellipse">
            <a:avLst/>
          </a:prstGeom>
          <a:solidFill>
            <a:srgbClr val="45C4B0"/>
          </a:solidFill>
          <a:ln w="12700">
            <a:solidFill>
              <a:srgbClr val="45C4B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matched, and travel time is physically possible against the road distance. Camera 14 to 22: 610 m in 47 s = 47 km/h.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87452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and attributes agree inside the gate, but no plate was read. Score ceiling 0.79 — it can never reach CONFIRMED.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121C3E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ceiling is a safety property, not a tuning choice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4348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identifies a car by colour and shape will eventually identify the wrong car, and an officer will act on it. A rejected match is shown too: same plate read, but the travel time implied 180 km/h on an urban road — physically impossible, so it is not a match, whatever the appearance score said.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score breakdown is one click away on every hop. The false-positive rate is displayed, not hidden.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attacked our own system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departments share one database. Isolation is the control that makes that acceptable — so we tested it adversarially against a live two-department estate rather than asserting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4942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34086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 findings, each proved by an exploit that ran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20954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5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30098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and held by 18 regression tests written as attacks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416966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5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426110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injection, algorithm-confusion or secret-handling faults found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21C3E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5212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that mattered most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50468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in one department could acknowledge another department's CRITICAL stolen-vehicle alert — a write, not a leak. Twenty-five earlier tests passed throughout, because all twenty-five tested cameras. Scoping the registry is not scoping the estate.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Failover is tested, not described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police evidence store that loses the last N minutes on a primary failure has lost evidence, not throughput. So we ran the drill rather than writing the policy.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45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lost — observed RPO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2148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45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0.36 s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926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to accepting writes — observed RTO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2148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0.27 s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2926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replica catch-up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39319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drill actually does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29768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primary with WAL archiving and a streaming standby with a replication slot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5,000 evidence rows, then kills the primary with no clean shutdown — the closest a drill gets to losing power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the standby, counts what survived, and confirms it accepts new evidence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Archives WAL segments, so point-in-time recovery covers a bad write noticed an hour later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it yourself:  python scripts/dr_drill.py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LAWFULNESS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schema, not the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3740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385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5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limitation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40864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a vehicle's movement history requires a stated purpose, recorded to a 7-year audit log. DPDP Act 2023 makes this an obligation, not a preference.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3740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9385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5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Audited refusals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340864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audit log is itself audited. An attempt to reach another department's camera is recorded with who tried — a refusal that leaves no record is one an attacker can retry all year.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3740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9044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5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password can be stored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06824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column in the database can hold a camera credential. Credentials are referenced by name and resolved from a secret store; inline passwords are refused outright in production.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7033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3740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39044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5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disclosure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306824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a plate releases a status flag and nothing else — not the owner's name or address. Owner details need a registered investigation with a case reference.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runs air-gapped: no font CDN, no map token, no external model service. When the tile server is unreachable the overlays still render — the correct degraded behaviour for a control room, and it is tested.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proven, and what is not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maps to an implementation, a named test and a status. If you challenge a claim in this deck, we will show you the line and the test that holds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45C4B0"/>
          </a:solidFill>
          <a:ln w="12700">
            <a:solidFill>
              <a:srgbClr val="45C4B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86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and executed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4846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decode, detect, track, ANPR, ReID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Cross-camera matching under the road-network gate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isolation across every data surface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log, purpose limitation, RBAC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Failover: 0 records lost, 0.36 s recovery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RTSP: TCP pinned, PTS timing, reconnect backoff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28600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286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done — stated plainly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788920"/>
            <a:ext cx="4846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 against the real Sentinel gateway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government record system is connected — all five adapters are mock, and every record is stamped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figures are the simulator's, not real Gujarat imagery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executed above 1,000 cameras — beyond that every figure is arithmetic over stated assumptions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532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calling this production ready. We would rather you heard that from us than found it afterwards.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 ROLLOUT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phases, each with entry criteria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74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5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50–200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00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07208" y="169164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44368" y="1874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5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944368" y="2377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944368" y="2743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3200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M6–14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65776" y="169164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02936" y="1874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5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202936" y="2377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02936" y="2743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202936" y="3200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M12–24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24344" y="169164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61504" y="1874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5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461504" y="2377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61504" y="2743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461504" y="3200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M20–32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82912" y="169164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121C3E"/>
          </a:solidFill>
          <a:ln w="12700">
            <a:solidFill>
              <a:srgbClr val="121C3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20072" y="1874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5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720072" y="2377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20072" y="2743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80,000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9720072" y="3200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M30–40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2062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" y="4389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at 80,000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edge nodes carrying ~2,000 GPUs. The GPU is the binding constraint at ~40 cameras each — decode is 7x cheaper than inference. 24 PB of hot video stays at the edge and never moves.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72200" y="42062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121C3E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492240" y="4389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true before Phase 1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gateway integration · measured ANPR accuracy on real imagery · authorised government record access · a thermally qualified edge appliance. Each is currently unmet, and each is named in the rollout plan.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against centralised, year one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7665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9164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86384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56.0 crore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3317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in year one. Storage and backbone alone account for Rs 57.6 crore of it.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89520" y="33375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121C3E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12700" dir="5400000">
              <a:srgbClr val="8A94B8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863840" y="356616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as an estimate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40690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procurement quote was obtained. Unit costs are estimates against list prices, and every one of them is labelled as such in the cost model. We would expect a tender to move these numbers.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and every unit cost: docs/COST_BENEFIT.md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5852160" cy="58521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FOR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Access, and a pilot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77240" y="2560320"/>
            <a:ext cx="384048" cy="384048"/>
          </a:xfrm>
          <a:prstGeom prst="ellipse">
            <a:avLst/>
          </a:prstGeom>
          <a:solidFill>
            <a:srgbClr val="45C4B0"/>
          </a:solidFill>
          <a:ln w="12700">
            <a:solidFill>
              <a:srgbClr val="45C4B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5146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gateway credentials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986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Host, credentials and API documentation. Our preflight tool answers your integrator checklist on the day we receive them.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657600"/>
            <a:ext cx="384048" cy="384048"/>
          </a:xfrm>
          <a:prstGeom prst="ellipse">
            <a:avLst/>
          </a:prstGeom>
          <a:solidFill>
            <a:srgbClr val="45C4B0"/>
          </a:solidFill>
          <a:ln w="12700">
            <a:solidFill>
              <a:srgbClr val="45C4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imagery for one camera class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99592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accuracy we publish is Gujarat's, not a simulator's.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4754880"/>
            <a:ext cx="384048" cy="384048"/>
          </a:xfrm>
          <a:prstGeom prst="ellipse">
            <a:avLst/>
          </a:prstGeom>
          <a:solidFill>
            <a:srgbClr val="45C4B0"/>
          </a:solidFill>
          <a:ln w="12700">
            <a:solidFill>
              <a:srgbClr val="45C4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7091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50–200 camera pilot district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50932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1. Every entry criterion is written down, and we will report against it honestly.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371 tests · 11 migrations · 45 API operations · every requirement traced to a named test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— Unified VMS &amp; AI Analytics</dc:title>
  <dc:subject>PptxGenJS Presentation</dc:subject>
  <dc:creator>Sentinel</dc:creator>
  <cp:lastModifiedBy>Sentinel</cp:lastModifiedBy>
  <cp:revision>1</cp:revision>
  <dcterms:created xsi:type="dcterms:W3CDTF">2026-09-02T09:21:31Z</dcterms:created>
  <dcterms:modified xsi:type="dcterms:W3CDTF">2026-09-02T09:21:31Z</dcterms:modified>
</cp:coreProperties>
</file>